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007" autoAdjust="0"/>
  </p:normalViewPr>
  <p:slideViewPr>
    <p:cSldViewPr snapToGrid="0">
      <p:cViewPr>
        <p:scale>
          <a:sx n="49" d="100"/>
          <a:sy n="49" d="100"/>
        </p:scale>
        <p:origin x="131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1T03:02:17.419"/>
    </inkml:context>
    <inkml:brush xml:id="br0">
      <inkml:brushProperty name="width" value="0.035" units="cm"/>
      <inkml:brushProperty name="height" value="0.035" units="cm"/>
      <inkml:brushProperty name="color" value="#FFFFFF"/>
    </inkml:brush>
  </inkml:definitions>
  <inkml:trace contextRef="#ctx0" brushRef="#br0">1 1 24575,'0'22'-8191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71DE0-F1D3-45E4-9D71-63318B6DD94E}"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4CB85-FB30-4CD3-B4BF-AFA5BEDC569E}" type="slidenum">
              <a:rPr lang="en-US" smtClean="0"/>
              <a:t>‹#›</a:t>
            </a:fld>
            <a:endParaRPr lang="en-US"/>
          </a:p>
        </p:txBody>
      </p:sp>
    </p:spTree>
    <p:extLst>
      <p:ext uri="{BB962C8B-B14F-4D97-AF65-F5344CB8AC3E}">
        <p14:creationId xmlns:p14="http://schemas.microsoft.com/office/powerpoint/2010/main" val="222425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1</a:t>
            </a:r>
            <a:r>
              <a:rPr lang="en-US" sz="1200" i="0" kern="1200" dirty="0">
                <a:solidFill>
                  <a:schemeClr val="tx1"/>
                </a:solidFill>
                <a:effectLst/>
                <a:latin typeface="+mn-lt"/>
                <a:ea typeface="+mn-ea"/>
                <a:cs typeface="+mn-cs"/>
              </a:rPr>
              <a:t> Comparison of the </a:t>
            </a:r>
            <a:r>
              <a:rPr lang="en-US" sz="1200" i="0" kern="1200" dirty="0" err="1">
                <a:solidFill>
                  <a:schemeClr val="tx1"/>
                </a:solidFill>
                <a:effectLst/>
                <a:latin typeface="+mn-lt"/>
                <a:ea typeface="+mn-ea"/>
                <a:cs typeface="+mn-cs"/>
              </a:rPr>
              <a:t>logFC</a:t>
            </a:r>
            <a:r>
              <a:rPr lang="en-US" sz="1200" i="0" kern="1200" dirty="0">
                <a:solidFill>
                  <a:schemeClr val="tx1"/>
                </a:solidFill>
                <a:effectLst/>
                <a:latin typeface="+mn-lt"/>
                <a:ea typeface="+mn-ea"/>
                <a:cs typeface="+mn-cs"/>
              </a:rPr>
              <a:t> between groups between </a:t>
            </a:r>
            <a:r>
              <a:rPr lang="en-US" sz="1200" b="1" i="0" kern="1200" dirty="0">
                <a:solidFill>
                  <a:schemeClr val="tx1"/>
                </a:solidFill>
                <a:effectLst/>
                <a:latin typeface="+mn-lt"/>
                <a:ea typeface="+mn-ea"/>
                <a:cs typeface="+mn-cs"/>
              </a:rPr>
              <a:t>A </a:t>
            </a:r>
            <a:r>
              <a:rPr lang="en-US" sz="1200" i="0" kern="1200" dirty="0">
                <a:solidFill>
                  <a:schemeClr val="tx1"/>
                </a:solidFill>
                <a:effectLst/>
                <a:latin typeface="+mn-lt"/>
                <a:ea typeface="+mn-ea"/>
                <a:cs typeface="+mn-cs"/>
              </a:rPr>
              <a:t>my algorithm and </a:t>
            </a:r>
            <a:r>
              <a:rPr lang="en-US" sz="1200" i="0" kern="1200" dirty="0" err="1">
                <a:solidFill>
                  <a:schemeClr val="tx1"/>
                </a:solidFill>
                <a:effectLst/>
                <a:latin typeface="+mn-lt"/>
                <a:ea typeface="+mn-ea"/>
                <a:cs typeface="+mn-cs"/>
              </a:rPr>
              <a:t>edgeR</a:t>
            </a:r>
            <a:r>
              <a:rPr lang="en-US" sz="120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 </a:t>
            </a:r>
            <a:r>
              <a:rPr lang="en-US" sz="1200" i="0" kern="1200" dirty="0">
                <a:solidFill>
                  <a:schemeClr val="tx1"/>
                </a:solidFill>
                <a:effectLst/>
                <a:latin typeface="+mn-lt"/>
                <a:ea typeface="+mn-ea"/>
                <a:cs typeface="+mn-cs"/>
              </a:rPr>
              <a:t>my algorithm and </a:t>
            </a:r>
            <a:r>
              <a:rPr lang="en-US" sz="1200" i="0" kern="1200" dirty="0" err="1">
                <a:solidFill>
                  <a:schemeClr val="tx1"/>
                </a:solidFill>
                <a:effectLst/>
                <a:latin typeface="+mn-lt"/>
                <a:ea typeface="+mn-ea"/>
                <a:cs typeface="+mn-cs"/>
              </a:rPr>
              <a:t>limma</a:t>
            </a:r>
            <a:r>
              <a:rPr lang="en-US" sz="120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C</a:t>
            </a:r>
            <a:r>
              <a:rPr lang="en-US" sz="1200" i="0" kern="120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edgeR</a:t>
            </a:r>
            <a:r>
              <a:rPr lang="en-US" sz="1200" i="0" kern="1200" dirty="0">
                <a:solidFill>
                  <a:schemeClr val="tx1"/>
                </a:solidFill>
                <a:effectLst/>
                <a:latin typeface="+mn-lt"/>
                <a:ea typeface="+mn-ea"/>
                <a:cs typeface="+mn-cs"/>
              </a:rPr>
              <a:t> and </a:t>
            </a:r>
            <a:r>
              <a:rPr lang="en-US" sz="1200" i="0" kern="1200" dirty="0" err="1">
                <a:solidFill>
                  <a:schemeClr val="tx1"/>
                </a:solidFill>
                <a:effectLst/>
                <a:latin typeface="+mn-lt"/>
                <a:ea typeface="+mn-ea"/>
                <a:cs typeface="+mn-cs"/>
              </a:rPr>
              <a:t>limma</a:t>
            </a:r>
            <a:r>
              <a:rPr lang="en-US" sz="1200" i="0" kern="1200" dirty="0">
                <a:solidFill>
                  <a:schemeClr val="tx1"/>
                </a:solidFill>
                <a:effectLst/>
                <a:latin typeface="+mn-lt"/>
                <a:ea typeface="+mn-ea"/>
                <a:cs typeface="+mn-cs"/>
              </a:rPr>
              <a:t> when comparing all genes. When only evaluating significant genes, </a:t>
            </a:r>
            <a:r>
              <a:rPr lang="en-US" sz="1200" b="1" i="0" kern="1200" dirty="0">
                <a:solidFill>
                  <a:schemeClr val="tx1"/>
                </a:solidFill>
                <a:effectLst/>
                <a:latin typeface="+mn-lt"/>
                <a:ea typeface="+mn-ea"/>
                <a:cs typeface="+mn-cs"/>
              </a:rPr>
              <a:t>D </a:t>
            </a:r>
            <a:r>
              <a:rPr lang="en-US" sz="1200" i="0" kern="1200" dirty="0">
                <a:solidFill>
                  <a:schemeClr val="tx1"/>
                </a:solidFill>
                <a:effectLst/>
                <a:latin typeface="+mn-lt"/>
                <a:ea typeface="+mn-ea"/>
                <a:cs typeface="+mn-cs"/>
              </a:rPr>
              <a:t>compares my algorithm and </a:t>
            </a:r>
            <a:r>
              <a:rPr lang="en-US" sz="1200" i="0" kern="1200" dirty="0" err="1">
                <a:solidFill>
                  <a:schemeClr val="tx1"/>
                </a:solidFill>
                <a:effectLst/>
                <a:latin typeface="+mn-lt"/>
                <a:ea typeface="+mn-ea"/>
                <a:cs typeface="+mn-cs"/>
              </a:rPr>
              <a:t>edgeR</a:t>
            </a:r>
            <a:r>
              <a:rPr lang="en-US" sz="120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 </a:t>
            </a:r>
            <a:r>
              <a:rPr lang="en-US" sz="1200" i="0" kern="1200" dirty="0">
                <a:solidFill>
                  <a:schemeClr val="tx1"/>
                </a:solidFill>
                <a:effectLst/>
                <a:latin typeface="+mn-lt"/>
                <a:ea typeface="+mn-ea"/>
                <a:cs typeface="+mn-cs"/>
              </a:rPr>
              <a:t>compares</a:t>
            </a:r>
            <a:r>
              <a:rPr lang="en-US" sz="1200" b="1" i="0" kern="120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my algorithm and </a:t>
            </a:r>
            <a:r>
              <a:rPr lang="en-US" sz="1200" i="0" kern="1200" dirty="0" err="1">
                <a:solidFill>
                  <a:schemeClr val="tx1"/>
                </a:solidFill>
                <a:effectLst/>
                <a:latin typeface="+mn-lt"/>
                <a:ea typeface="+mn-ea"/>
                <a:cs typeface="+mn-cs"/>
              </a:rPr>
              <a:t>limma</a:t>
            </a:r>
            <a:r>
              <a:rPr lang="en-US" sz="120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F</a:t>
            </a:r>
            <a:r>
              <a:rPr lang="en-US" sz="1200" i="0" kern="1200" dirty="0">
                <a:solidFill>
                  <a:schemeClr val="tx1"/>
                </a:solidFill>
                <a:effectLst/>
                <a:latin typeface="+mn-lt"/>
                <a:ea typeface="+mn-ea"/>
                <a:cs typeface="+mn-cs"/>
              </a:rPr>
              <a:t> compares </a:t>
            </a:r>
            <a:r>
              <a:rPr lang="en-US" sz="1200" i="0" kern="1200" dirty="0" err="1">
                <a:solidFill>
                  <a:schemeClr val="tx1"/>
                </a:solidFill>
                <a:effectLst/>
                <a:latin typeface="+mn-lt"/>
                <a:ea typeface="+mn-ea"/>
                <a:cs typeface="+mn-cs"/>
              </a:rPr>
              <a:t>edgeR</a:t>
            </a:r>
            <a:r>
              <a:rPr lang="en-US" sz="1200" i="0" kern="1200" dirty="0">
                <a:solidFill>
                  <a:schemeClr val="tx1"/>
                </a:solidFill>
                <a:effectLst/>
                <a:latin typeface="+mn-lt"/>
                <a:ea typeface="+mn-ea"/>
                <a:cs typeface="+mn-cs"/>
              </a:rPr>
              <a:t> and </a:t>
            </a:r>
            <a:r>
              <a:rPr lang="en-US" sz="1200" i="0" kern="1200" dirty="0" err="1">
                <a:solidFill>
                  <a:schemeClr val="tx1"/>
                </a:solidFill>
                <a:effectLst/>
                <a:latin typeface="+mn-lt"/>
                <a:ea typeface="+mn-ea"/>
                <a:cs typeface="+mn-cs"/>
              </a:rPr>
              <a:t>limma</a:t>
            </a:r>
            <a:r>
              <a:rPr lang="en-US" sz="1200" i="0" kern="1200" dirty="0">
                <a:solidFill>
                  <a:schemeClr val="tx1"/>
                </a:solidFill>
                <a:effectLst/>
                <a:latin typeface="+mn-lt"/>
                <a:ea typeface="+mn-ea"/>
                <a:cs typeface="+mn-cs"/>
              </a:rPr>
              <a:t> when comparing all genes</a:t>
            </a:r>
            <a:endParaRPr lang="en-US" sz="120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DD4CB85-FB30-4CD3-B4BF-AFA5BEDC569E}" type="slidenum">
              <a:rPr lang="en-US" smtClean="0"/>
              <a:t>2</a:t>
            </a:fld>
            <a:endParaRPr lang="en-US"/>
          </a:p>
        </p:txBody>
      </p:sp>
    </p:spTree>
    <p:extLst>
      <p:ext uri="{BB962C8B-B14F-4D97-AF65-F5344CB8AC3E}">
        <p14:creationId xmlns:p14="http://schemas.microsoft.com/office/powerpoint/2010/main" val="205864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Figure 2</a:t>
            </a:r>
            <a:r>
              <a:rPr lang="en-US" sz="1200" i="0" kern="1200" dirty="0">
                <a:solidFill>
                  <a:schemeClr val="tx1"/>
                </a:solidFill>
                <a:effectLst/>
                <a:latin typeface="+mn-lt"/>
                <a:ea typeface="+mn-ea"/>
                <a:cs typeface="+mn-cs"/>
              </a:rPr>
              <a:t> Comparison of the p-value between groups between </a:t>
            </a:r>
            <a:r>
              <a:rPr lang="en-US" sz="1200" b="1" i="0" kern="1200" dirty="0">
                <a:solidFill>
                  <a:schemeClr val="tx1"/>
                </a:solidFill>
                <a:effectLst/>
                <a:latin typeface="+mn-lt"/>
                <a:ea typeface="+mn-ea"/>
                <a:cs typeface="+mn-cs"/>
              </a:rPr>
              <a:t>A </a:t>
            </a:r>
            <a:r>
              <a:rPr lang="en-US" sz="1200" i="0" kern="1200" dirty="0">
                <a:solidFill>
                  <a:schemeClr val="tx1"/>
                </a:solidFill>
                <a:effectLst/>
                <a:latin typeface="+mn-lt"/>
                <a:ea typeface="+mn-ea"/>
                <a:cs typeface="+mn-cs"/>
              </a:rPr>
              <a:t>my algorithm and </a:t>
            </a:r>
            <a:r>
              <a:rPr lang="en-US" sz="1200" i="0" kern="1200" dirty="0" err="1">
                <a:solidFill>
                  <a:schemeClr val="tx1"/>
                </a:solidFill>
                <a:effectLst/>
                <a:latin typeface="+mn-lt"/>
                <a:ea typeface="+mn-ea"/>
                <a:cs typeface="+mn-cs"/>
              </a:rPr>
              <a:t>edgeR</a:t>
            </a:r>
            <a:r>
              <a:rPr lang="en-US" sz="120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 </a:t>
            </a:r>
            <a:r>
              <a:rPr lang="en-US" sz="1200" i="0" kern="1200" dirty="0">
                <a:solidFill>
                  <a:schemeClr val="tx1"/>
                </a:solidFill>
                <a:effectLst/>
                <a:latin typeface="+mn-lt"/>
                <a:ea typeface="+mn-ea"/>
                <a:cs typeface="+mn-cs"/>
              </a:rPr>
              <a:t>my algorithm and </a:t>
            </a:r>
            <a:r>
              <a:rPr lang="en-US" sz="1200" i="0" kern="1200" dirty="0" err="1">
                <a:solidFill>
                  <a:schemeClr val="tx1"/>
                </a:solidFill>
                <a:effectLst/>
                <a:latin typeface="+mn-lt"/>
                <a:ea typeface="+mn-ea"/>
                <a:cs typeface="+mn-cs"/>
              </a:rPr>
              <a:t>limma</a:t>
            </a:r>
            <a:r>
              <a:rPr lang="en-US" sz="120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C</a:t>
            </a:r>
            <a:r>
              <a:rPr lang="en-US" sz="1200" i="0" kern="120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edgeR</a:t>
            </a:r>
            <a:r>
              <a:rPr lang="en-US" sz="1200" i="0" kern="1200" dirty="0">
                <a:solidFill>
                  <a:schemeClr val="tx1"/>
                </a:solidFill>
                <a:effectLst/>
                <a:latin typeface="+mn-lt"/>
                <a:ea typeface="+mn-ea"/>
                <a:cs typeface="+mn-cs"/>
              </a:rPr>
              <a:t> and </a:t>
            </a:r>
            <a:r>
              <a:rPr lang="en-US" sz="1200" i="0" kern="1200" dirty="0" err="1">
                <a:solidFill>
                  <a:schemeClr val="tx1"/>
                </a:solidFill>
                <a:effectLst/>
                <a:latin typeface="+mn-lt"/>
                <a:ea typeface="+mn-ea"/>
                <a:cs typeface="+mn-cs"/>
              </a:rPr>
              <a:t>limma</a:t>
            </a:r>
            <a:r>
              <a:rPr lang="en-US" sz="1200" i="0" kern="1200" dirty="0">
                <a:solidFill>
                  <a:schemeClr val="tx1"/>
                </a:solidFill>
                <a:effectLst/>
                <a:latin typeface="+mn-lt"/>
                <a:ea typeface="+mn-ea"/>
                <a:cs typeface="+mn-cs"/>
              </a:rPr>
              <a:t> when comparing all genes. </a:t>
            </a:r>
            <a:endParaRPr lang="en-US" dirty="0"/>
          </a:p>
        </p:txBody>
      </p:sp>
      <p:sp>
        <p:nvSpPr>
          <p:cNvPr id="4" name="Slide Number Placeholder 3"/>
          <p:cNvSpPr>
            <a:spLocks noGrp="1"/>
          </p:cNvSpPr>
          <p:nvPr>
            <p:ph type="sldNum" sz="quarter" idx="5"/>
          </p:nvPr>
        </p:nvSpPr>
        <p:spPr/>
        <p:txBody>
          <a:bodyPr/>
          <a:lstStyle/>
          <a:p>
            <a:fld id="{ADD4CB85-FB30-4CD3-B4BF-AFA5BEDC569E}" type="slidenum">
              <a:rPr lang="en-US" smtClean="0"/>
              <a:t>3</a:t>
            </a:fld>
            <a:endParaRPr lang="en-US"/>
          </a:p>
        </p:txBody>
      </p:sp>
    </p:spTree>
    <p:extLst>
      <p:ext uri="{BB962C8B-B14F-4D97-AF65-F5344CB8AC3E}">
        <p14:creationId xmlns:p14="http://schemas.microsoft.com/office/powerpoint/2010/main" val="455259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76DC1-E2EF-71D3-6C15-A4C6F41F18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2521F2-0927-3B15-9FDA-9A3B57659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C42449-57FE-6EAE-2038-742CADBF734D}"/>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5" name="Footer Placeholder 4">
            <a:extLst>
              <a:ext uri="{FF2B5EF4-FFF2-40B4-BE49-F238E27FC236}">
                <a16:creationId xmlns:a16="http://schemas.microsoft.com/office/drawing/2014/main" id="{FED8330D-6812-B246-0776-48D78400C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CE58B-D37D-1002-F4B2-C0E98D48169B}"/>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3210042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7E011-29DA-255D-78A1-AD4EAC8FA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DCFEE5-7840-694D-928C-44155501B9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601FEA-A5C4-70ED-174B-173F3B7EAF9E}"/>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5" name="Footer Placeholder 4">
            <a:extLst>
              <a:ext uri="{FF2B5EF4-FFF2-40B4-BE49-F238E27FC236}">
                <a16:creationId xmlns:a16="http://schemas.microsoft.com/office/drawing/2014/main" id="{E21533C0-081F-547A-DE6C-BBF81E2CB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AB987-D902-9BD2-258C-09D10FA9BBED}"/>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173351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737E0-47AF-8B7A-A71E-BB6609F849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863BE2-F6ED-39D2-F33A-E07A42262E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51245C-FDCF-F309-0A88-40B974D4F370}"/>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5" name="Footer Placeholder 4">
            <a:extLst>
              <a:ext uri="{FF2B5EF4-FFF2-40B4-BE49-F238E27FC236}">
                <a16:creationId xmlns:a16="http://schemas.microsoft.com/office/drawing/2014/main" id="{7A1E1DDA-9328-40D5-5130-EF4AFC206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C10E4-3122-6D2E-33E1-2F6367541066}"/>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219534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0D10-7DA3-AF8E-581E-2DAAB801F3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6D40C5-70CC-D496-0419-C63EBD0A26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EADEAC-621A-86F6-3FE6-04AC0B19C0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78DD19-4236-36BB-DB30-893952953D7E}"/>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6" name="Footer Placeholder 5">
            <a:extLst>
              <a:ext uri="{FF2B5EF4-FFF2-40B4-BE49-F238E27FC236}">
                <a16:creationId xmlns:a16="http://schemas.microsoft.com/office/drawing/2014/main" id="{724E4C6B-B611-E5FA-4F19-1B436BDE6F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3BF362-CFC4-7F73-03D5-37CBD8AEE2F3}"/>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268807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27CB5-EB70-D137-14E2-5493A9A95D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531270-707A-3D26-E87D-6B085A8ED3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1E2EA7-7979-9E24-3EB8-468906A09C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7C972F-4BF7-97B2-CCCA-C8C6F7742D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84AABF-983C-1C7F-0401-DC82F950D0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F99AAA-D1DC-630C-4FC3-CD889E72C093}"/>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8" name="Footer Placeholder 7">
            <a:extLst>
              <a:ext uri="{FF2B5EF4-FFF2-40B4-BE49-F238E27FC236}">
                <a16:creationId xmlns:a16="http://schemas.microsoft.com/office/drawing/2014/main" id="{7E671BFC-CAD1-02EA-00A3-53F21D04E2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6B9A97-ED15-398D-7BAB-329F8A5DC879}"/>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714473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A32B1-C9B6-9A70-3F1F-B3909F0B9E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3250CA-3451-B81A-2EB6-2C6FE41A85D6}"/>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4" name="Footer Placeholder 3">
            <a:extLst>
              <a:ext uri="{FF2B5EF4-FFF2-40B4-BE49-F238E27FC236}">
                <a16:creationId xmlns:a16="http://schemas.microsoft.com/office/drawing/2014/main" id="{F1A1AACA-0207-9567-4B2D-17D89889E3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47D4B2-162A-9141-3AB7-5200DF081319}"/>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365301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6A16EB-9922-B2AE-31B1-8286DA85A625}"/>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3" name="Footer Placeholder 2">
            <a:extLst>
              <a:ext uri="{FF2B5EF4-FFF2-40B4-BE49-F238E27FC236}">
                <a16:creationId xmlns:a16="http://schemas.microsoft.com/office/drawing/2014/main" id="{AB492F6C-450E-AAAC-2A1A-BCE0753959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BED403-2173-1076-BE40-FD16F76E84A3}"/>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2818091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C434-3463-FF48-2536-40B726939E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D2F06B-BEB8-05FF-CBC2-55D0CDB644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FD0435-C08C-C44A-D931-877918F0F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9C6569-FB47-6EBD-D7CB-EABD5CA91C61}"/>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6" name="Footer Placeholder 5">
            <a:extLst>
              <a:ext uri="{FF2B5EF4-FFF2-40B4-BE49-F238E27FC236}">
                <a16:creationId xmlns:a16="http://schemas.microsoft.com/office/drawing/2014/main" id="{D8015DFC-B20A-F062-1CAD-17AE76143E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E90F6-D081-85D0-0783-3A5C638D7673}"/>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1434891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89D2-1917-5194-0C8C-BF575AB57D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7AF602-D90A-B006-63B0-CA13F24CFD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D9D5F7-6E48-749D-730A-6AC4DD27F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EC15F0-C527-A11C-0DB6-1A1F0472C7F4}"/>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6" name="Footer Placeholder 5">
            <a:extLst>
              <a:ext uri="{FF2B5EF4-FFF2-40B4-BE49-F238E27FC236}">
                <a16:creationId xmlns:a16="http://schemas.microsoft.com/office/drawing/2014/main" id="{127065E9-B627-1965-15F7-E9420155C4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FFCF39-E953-DDF2-A16D-C7A50FC79BB5}"/>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3434101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54051-E03E-C990-44B3-31FDD82C1A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D4B4C8-5340-5DA9-A3AD-9AED1019C8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C4FBF-957D-BF89-4855-084E3EABF959}"/>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5" name="Footer Placeholder 4">
            <a:extLst>
              <a:ext uri="{FF2B5EF4-FFF2-40B4-BE49-F238E27FC236}">
                <a16:creationId xmlns:a16="http://schemas.microsoft.com/office/drawing/2014/main" id="{D5110A53-6672-0C6B-246D-6DEBA9276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F23BB0-D931-6F64-D48D-28A79D779456}"/>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26239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28BA41-6D7D-7189-DBB7-5CC14154D8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9457E9-8BC7-4FEE-33FC-5AA673EB43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BF34E-15B7-8D21-B412-9F96CCFFA177}"/>
              </a:ext>
            </a:extLst>
          </p:cNvPr>
          <p:cNvSpPr>
            <a:spLocks noGrp="1"/>
          </p:cNvSpPr>
          <p:nvPr>
            <p:ph type="dt" sz="half" idx="10"/>
          </p:nvPr>
        </p:nvSpPr>
        <p:spPr/>
        <p:txBody>
          <a:bodyPr/>
          <a:lstStyle/>
          <a:p>
            <a:fld id="{EC52C6C4-BD6E-4691-AF64-30605511E3C2}" type="datetimeFigureOut">
              <a:rPr lang="en-US" smtClean="0"/>
              <a:t>3/31/2026</a:t>
            </a:fld>
            <a:endParaRPr lang="en-US"/>
          </a:p>
        </p:txBody>
      </p:sp>
      <p:sp>
        <p:nvSpPr>
          <p:cNvPr id="5" name="Footer Placeholder 4">
            <a:extLst>
              <a:ext uri="{FF2B5EF4-FFF2-40B4-BE49-F238E27FC236}">
                <a16:creationId xmlns:a16="http://schemas.microsoft.com/office/drawing/2014/main" id="{86FE1D3E-B45D-F0B9-26F2-740D3943D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BBF62-2CA7-292D-25E4-A38FA12DDDED}"/>
              </a:ext>
            </a:extLst>
          </p:cNvPr>
          <p:cNvSpPr>
            <a:spLocks noGrp="1"/>
          </p:cNvSpPr>
          <p:nvPr>
            <p:ph type="sldNum" sz="quarter" idx="12"/>
          </p:nvPr>
        </p:nvSpPr>
        <p:spPr/>
        <p:txBody>
          <a:bodyPr/>
          <a:lstStyle/>
          <a:p>
            <a:fld id="{C1AFECC4-2724-4CED-AA33-6DE2527B0349}" type="slidenum">
              <a:rPr lang="en-US" smtClean="0"/>
              <a:t>‹#›</a:t>
            </a:fld>
            <a:endParaRPr lang="en-US"/>
          </a:p>
        </p:txBody>
      </p:sp>
    </p:spTree>
    <p:extLst>
      <p:ext uri="{BB962C8B-B14F-4D97-AF65-F5344CB8AC3E}">
        <p14:creationId xmlns:p14="http://schemas.microsoft.com/office/powerpoint/2010/main" val="2173315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C865CA-FAA3-6CC6-6B1D-86412AFE13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370280-1BB6-CF97-332C-611325C094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ED5D70-1BDF-0777-9C45-3C2F0EF990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52C6C4-BD6E-4691-AF64-30605511E3C2}" type="datetimeFigureOut">
              <a:rPr lang="en-US" smtClean="0"/>
              <a:t>3/31/2026</a:t>
            </a:fld>
            <a:endParaRPr lang="en-US"/>
          </a:p>
        </p:txBody>
      </p:sp>
      <p:sp>
        <p:nvSpPr>
          <p:cNvPr id="5" name="Footer Placeholder 4">
            <a:extLst>
              <a:ext uri="{FF2B5EF4-FFF2-40B4-BE49-F238E27FC236}">
                <a16:creationId xmlns:a16="http://schemas.microsoft.com/office/drawing/2014/main" id="{4A9C4621-F977-230F-98A9-D3744CFA97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5540DD-BF95-8AA4-EB99-F23EB3EB92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AFECC4-2724-4CED-AA33-6DE2527B0349}" type="slidenum">
              <a:rPr lang="en-US" smtClean="0"/>
              <a:t>‹#›</a:t>
            </a:fld>
            <a:endParaRPr lang="en-US"/>
          </a:p>
        </p:txBody>
      </p:sp>
    </p:spTree>
    <p:extLst>
      <p:ext uri="{BB962C8B-B14F-4D97-AF65-F5344CB8AC3E}">
        <p14:creationId xmlns:p14="http://schemas.microsoft.com/office/powerpoint/2010/main" val="2198853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F2B0-B704-D08A-1BD5-5FBF91A5568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D342C06-E67C-7E56-BB92-CADF76B6897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96764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69B77A5-CA6C-212E-8C51-585E6D8274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810000" cy="3810000"/>
          </a:xfrm>
          <a:prstGeom prst="rect">
            <a:avLst/>
          </a:prstGeom>
        </p:spPr>
      </p:pic>
      <p:pic>
        <p:nvPicPr>
          <p:cNvPr id="5" name="Picture 4">
            <a:extLst>
              <a:ext uri="{FF2B5EF4-FFF2-40B4-BE49-F238E27FC236}">
                <a16:creationId xmlns:a16="http://schemas.microsoft.com/office/drawing/2014/main" id="{8E4C2466-0B74-1B65-5FDA-8970A03BC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786" y="0"/>
            <a:ext cx="3810000" cy="3810000"/>
          </a:xfrm>
          <a:prstGeom prst="rect">
            <a:avLst/>
          </a:prstGeom>
        </p:spPr>
      </p:pic>
      <p:pic>
        <p:nvPicPr>
          <p:cNvPr id="13" name="Picture 12" descr="The diagram is a box plot showing a log2 fold change (log2FC) comparison of significant (sig) genes between two methods, mine and edgeR, for different groups, specifically for cases of Lymphoid leukemia, NOS and Myeloid leukemia, NOS, with gene counts ranging from 20 to 60.&#10;&#10;AI-generated content may be incorrect.">
            <a:extLst>
              <a:ext uri="{FF2B5EF4-FFF2-40B4-BE49-F238E27FC236}">
                <a16:creationId xmlns:a16="http://schemas.microsoft.com/office/drawing/2014/main" id="{6915DCE3-DEC5-CABA-0CD8-2972CF56AB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810000"/>
            <a:ext cx="3813048" cy="3813048"/>
          </a:xfrm>
          <a:prstGeom prst="rect">
            <a:avLst/>
          </a:prstGeom>
        </p:spPr>
      </p:pic>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43C9FC37-CCEF-F3DF-FD87-8EC8B4C62ED1}"/>
                  </a:ext>
                </a:extLst>
              </p14:cNvPr>
              <p14:cNvContentPartPr/>
              <p14:nvPr/>
            </p14:nvContentPartPr>
            <p14:xfrm>
              <a:off x="2486808" y="4864104"/>
              <a:ext cx="360" cy="8280"/>
            </p14:xfrm>
          </p:contentPart>
        </mc:Choice>
        <mc:Fallback>
          <p:pic>
            <p:nvPicPr>
              <p:cNvPr id="16" name="Ink 15">
                <a:extLst>
                  <a:ext uri="{FF2B5EF4-FFF2-40B4-BE49-F238E27FC236}">
                    <a16:creationId xmlns:a16="http://schemas.microsoft.com/office/drawing/2014/main" id="{43C9FC37-CCEF-F3DF-FD87-8EC8B4C62ED1}"/>
                  </a:ext>
                </a:extLst>
              </p:cNvPr>
              <p:cNvPicPr/>
              <p:nvPr/>
            </p:nvPicPr>
            <p:blipFill>
              <a:blip r:embed="rId7"/>
              <a:stretch>
                <a:fillRect/>
              </a:stretch>
            </p:blipFill>
            <p:spPr>
              <a:xfrm>
                <a:off x="2480688" y="4857984"/>
                <a:ext cx="12600" cy="20520"/>
              </a:xfrm>
              <a:prstGeom prst="rect">
                <a:avLst/>
              </a:prstGeom>
            </p:spPr>
          </p:pic>
        </mc:Fallback>
      </mc:AlternateContent>
      <p:sp>
        <p:nvSpPr>
          <p:cNvPr id="18" name="Rectangle 17">
            <a:extLst>
              <a:ext uri="{FF2B5EF4-FFF2-40B4-BE49-F238E27FC236}">
                <a16:creationId xmlns:a16="http://schemas.microsoft.com/office/drawing/2014/main" id="{7FED7583-87D1-A9A3-8111-66DF0A3D801B}"/>
              </a:ext>
            </a:extLst>
          </p:cNvPr>
          <p:cNvSpPr/>
          <p:nvPr/>
        </p:nvSpPr>
        <p:spPr>
          <a:xfrm>
            <a:off x="2651760" y="1481328"/>
            <a:ext cx="369026"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36D6000-851B-6064-A9B1-5CE5F7497E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93536" y="2059"/>
            <a:ext cx="3810000" cy="3810000"/>
          </a:xfrm>
          <a:prstGeom prst="rect">
            <a:avLst/>
          </a:prstGeom>
        </p:spPr>
      </p:pic>
      <p:pic>
        <p:nvPicPr>
          <p:cNvPr id="15" name="Picture 14">
            <a:extLst>
              <a:ext uri="{FF2B5EF4-FFF2-40B4-BE49-F238E27FC236}">
                <a16:creationId xmlns:a16="http://schemas.microsoft.com/office/drawing/2014/main" id="{A6C38FDA-0921-9BEC-D475-6EABE4E4486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20786" y="3877377"/>
            <a:ext cx="3813048" cy="3813048"/>
          </a:xfrm>
          <a:prstGeom prst="rect">
            <a:avLst/>
          </a:prstGeom>
        </p:spPr>
      </p:pic>
      <p:pic>
        <p:nvPicPr>
          <p:cNvPr id="11" name="Picture 10">
            <a:extLst>
              <a:ext uri="{FF2B5EF4-FFF2-40B4-BE49-F238E27FC236}">
                <a16:creationId xmlns:a16="http://schemas.microsoft.com/office/drawing/2014/main" id="{41D59AB3-63F3-7565-0F3A-69B3EFD5C5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99856" y="3877377"/>
            <a:ext cx="3813048" cy="3813048"/>
          </a:xfrm>
          <a:prstGeom prst="rect">
            <a:avLst/>
          </a:prstGeom>
        </p:spPr>
      </p:pic>
      <p:sp>
        <p:nvSpPr>
          <p:cNvPr id="19" name="Rectangle 18">
            <a:extLst>
              <a:ext uri="{FF2B5EF4-FFF2-40B4-BE49-F238E27FC236}">
                <a16:creationId xmlns:a16="http://schemas.microsoft.com/office/drawing/2014/main" id="{38F4AC34-28C9-720F-71E2-A2B2095F8327}"/>
              </a:ext>
            </a:extLst>
          </p:cNvPr>
          <p:cNvSpPr/>
          <p:nvPr/>
        </p:nvSpPr>
        <p:spPr>
          <a:xfrm>
            <a:off x="5706176" y="1575977"/>
            <a:ext cx="484311"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78B027-2900-9AC4-308C-BAFA0A7DCE23}"/>
              </a:ext>
            </a:extLst>
          </p:cNvPr>
          <p:cNvSpPr/>
          <p:nvPr/>
        </p:nvSpPr>
        <p:spPr>
          <a:xfrm>
            <a:off x="2651760" y="5367849"/>
            <a:ext cx="369026"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FD9C411-C0C2-DB4D-CAA8-72939A20C496}"/>
              </a:ext>
            </a:extLst>
          </p:cNvPr>
          <p:cNvSpPr/>
          <p:nvPr/>
        </p:nvSpPr>
        <p:spPr>
          <a:xfrm>
            <a:off x="5706176" y="5396912"/>
            <a:ext cx="593680"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30C1910-F98F-A94A-E676-77B6B5D9B5BC}"/>
              </a:ext>
            </a:extLst>
          </p:cNvPr>
          <p:cNvSpPr/>
          <p:nvPr/>
        </p:nvSpPr>
        <p:spPr>
          <a:xfrm>
            <a:off x="8951616" y="5300472"/>
            <a:ext cx="1051920"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A05ABDF2-D105-BE90-7C02-F10B8708B94A}"/>
              </a:ext>
            </a:extLst>
          </p:cNvPr>
          <p:cNvPicPr>
            <a:picLocks noChangeAspect="1"/>
          </p:cNvPicPr>
          <p:nvPr/>
        </p:nvPicPr>
        <p:blipFill>
          <a:blip r:embed="rId8">
            <a:extLst>
              <a:ext uri="{28A0092B-C50C-407E-A947-70E740481C1C}">
                <a14:useLocalDpi xmlns:a14="http://schemas.microsoft.com/office/drawing/2010/main" val="0"/>
              </a:ext>
            </a:extLst>
          </a:blip>
          <a:srcRect l="68665" t="37460" b="39741"/>
          <a:stretch>
            <a:fillRect/>
          </a:stretch>
        </p:blipFill>
        <p:spPr>
          <a:xfrm>
            <a:off x="9060984" y="2545312"/>
            <a:ext cx="1645600" cy="1197312"/>
          </a:xfrm>
          <a:prstGeom prst="rect">
            <a:avLst/>
          </a:prstGeom>
        </p:spPr>
      </p:pic>
      <p:sp>
        <p:nvSpPr>
          <p:cNvPr id="24" name="Rectangle 23">
            <a:extLst>
              <a:ext uri="{FF2B5EF4-FFF2-40B4-BE49-F238E27FC236}">
                <a16:creationId xmlns:a16="http://schemas.microsoft.com/office/drawing/2014/main" id="{BE7BA018-AAD0-5384-11B8-E1679449F8CA}"/>
              </a:ext>
            </a:extLst>
          </p:cNvPr>
          <p:cNvSpPr/>
          <p:nvPr/>
        </p:nvSpPr>
        <p:spPr>
          <a:xfrm>
            <a:off x="8805983" y="1575977"/>
            <a:ext cx="1077801"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0679A49-FAF6-8F22-F6AD-ABAD8CDDF929}"/>
              </a:ext>
            </a:extLst>
          </p:cNvPr>
          <p:cNvSpPr txBox="1"/>
          <p:nvPr/>
        </p:nvSpPr>
        <p:spPr>
          <a:xfrm>
            <a:off x="-3048" y="-67377"/>
            <a:ext cx="327334" cy="369332"/>
          </a:xfrm>
          <a:prstGeom prst="rect">
            <a:avLst/>
          </a:prstGeom>
          <a:noFill/>
        </p:spPr>
        <p:txBody>
          <a:bodyPr wrap="none" rtlCol="0">
            <a:spAutoFit/>
          </a:bodyPr>
          <a:lstStyle/>
          <a:p>
            <a:r>
              <a:rPr lang="en-US" b="1" dirty="0"/>
              <a:t>A</a:t>
            </a:r>
          </a:p>
        </p:txBody>
      </p:sp>
      <p:sp>
        <p:nvSpPr>
          <p:cNvPr id="27" name="TextBox 26">
            <a:extLst>
              <a:ext uri="{FF2B5EF4-FFF2-40B4-BE49-F238E27FC236}">
                <a16:creationId xmlns:a16="http://schemas.microsoft.com/office/drawing/2014/main" id="{38AFE92F-DE56-7F18-E8AE-39D8C73B0DD0}"/>
              </a:ext>
            </a:extLst>
          </p:cNvPr>
          <p:cNvSpPr txBox="1"/>
          <p:nvPr/>
        </p:nvSpPr>
        <p:spPr>
          <a:xfrm>
            <a:off x="6201700" y="3760087"/>
            <a:ext cx="308098" cy="369332"/>
          </a:xfrm>
          <a:prstGeom prst="rect">
            <a:avLst/>
          </a:prstGeom>
          <a:noFill/>
        </p:spPr>
        <p:txBody>
          <a:bodyPr wrap="none" rtlCol="0">
            <a:spAutoFit/>
          </a:bodyPr>
          <a:lstStyle/>
          <a:p>
            <a:r>
              <a:rPr lang="en-US" b="1" dirty="0"/>
              <a:t>F</a:t>
            </a:r>
          </a:p>
        </p:txBody>
      </p:sp>
      <p:sp>
        <p:nvSpPr>
          <p:cNvPr id="28" name="TextBox 27">
            <a:extLst>
              <a:ext uri="{FF2B5EF4-FFF2-40B4-BE49-F238E27FC236}">
                <a16:creationId xmlns:a16="http://schemas.microsoft.com/office/drawing/2014/main" id="{C3BBC827-570D-5FBD-5692-384663E89324}"/>
              </a:ext>
            </a:extLst>
          </p:cNvPr>
          <p:cNvSpPr txBox="1"/>
          <p:nvPr/>
        </p:nvSpPr>
        <p:spPr>
          <a:xfrm>
            <a:off x="2983666" y="3742623"/>
            <a:ext cx="317716" cy="369332"/>
          </a:xfrm>
          <a:prstGeom prst="rect">
            <a:avLst/>
          </a:prstGeom>
          <a:noFill/>
        </p:spPr>
        <p:txBody>
          <a:bodyPr wrap="none" rtlCol="0">
            <a:spAutoFit/>
          </a:bodyPr>
          <a:lstStyle/>
          <a:p>
            <a:r>
              <a:rPr lang="en-US" b="1" dirty="0"/>
              <a:t>E</a:t>
            </a:r>
          </a:p>
        </p:txBody>
      </p:sp>
      <p:sp>
        <p:nvSpPr>
          <p:cNvPr id="29" name="TextBox 28">
            <a:extLst>
              <a:ext uri="{FF2B5EF4-FFF2-40B4-BE49-F238E27FC236}">
                <a16:creationId xmlns:a16="http://schemas.microsoft.com/office/drawing/2014/main" id="{8B44F321-5BAE-7ECB-233A-9ED885AAC242}"/>
              </a:ext>
            </a:extLst>
          </p:cNvPr>
          <p:cNvSpPr txBox="1"/>
          <p:nvPr/>
        </p:nvSpPr>
        <p:spPr>
          <a:xfrm>
            <a:off x="6180862" y="-70098"/>
            <a:ext cx="348172" cy="369332"/>
          </a:xfrm>
          <a:prstGeom prst="rect">
            <a:avLst/>
          </a:prstGeom>
          <a:noFill/>
        </p:spPr>
        <p:txBody>
          <a:bodyPr wrap="none" rtlCol="0">
            <a:spAutoFit/>
          </a:bodyPr>
          <a:lstStyle/>
          <a:p>
            <a:r>
              <a:rPr lang="en-US" b="1" dirty="0"/>
              <a:t>C</a:t>
            </a:r>
          </a:p>
        </p:txBody>
      </p:sp>
      <p:sp>
        <p:nvSpPr>
          <p:cNvPr id="30" name="TextBox 29">
            <a:extLst>
              <a:ext uri="{FF2B5EF4-FFF2-40B4-BE49-F238E27FC236}">
                <a16:creationId xmlns:a16="http://schemas.microsoft.com/office/drawing/2014/main" id="{395085DB-ED4B-D31E-2680-748E4CC95CA8}"/>
              </a:ext>
            </a:extLst>
          </p:cNvPr>
          <p:cNvSpPr txBox="1"/>
          <p:nvPr/>
        </p:nvSpPr>
        <p:spPr>
          <a:xfrm>
            <a:off x="2891464" y="-67377"/>
            <a:ext cx="327334" cy="369332"/>
          </a:xfrm>
          <a:prstGeom prst="rect">
            <a:avLst/>
          </a:prstGeom>
          <a:noFill/>
        </p:spPr>
        <p:txBody>
          <a:bodyPr wrap="none" rtlCol="0">
            <a:spAutoFit/>
          </a:bodyPr>
          <a:lstStyle/>
          <a:p>
            <a:r>
              <a:rPr lang="en-US" b="1" dirty="0"/>
              <a:t>B</a:t>
            </a:r>
          </a:p>
        </p:txBody>
      </p:sp>
      <p:sp>
        <p:nvSpPr>
          <p:cNvPr id="31" name="TextBox 30">
            <a:extLst>
              <a:ext uri="{FF2B5EF4-FFF2-40B4-BE49-F238E27FC236}">
                <a16:creationId xmlns:a16="http://schemas.microsoft.com/office/drawing/2014/main" id="{8D35AFF2-066D-3D60-8589-4490E4DABAE3}"/>
              </a:ext>
            </a:extLst>
          </p:cNvPr>
          <p:cNvSpPr txBox="1"/>
          <p:nvPr/>
        </p:nvSpPr>
        <p:spPr>
          <a:xfrm>
            <a:off x="-25582" y="3625334"/>
            <a:ext cx="348172" cy="369332"/>
          </a:xfrm>
          <a:prstGeom prst="rect">
            <a:avLst/>
          </a:prstGeom>
          <a:noFill/>
        </p:spPr>
        <p:txBody>
          <a:bodyPr wrap="none" rtlCol="0">
            <a:spAutoFit/>
          </a:bodyPr>
          <a:lstStyle/>
          <a:p>
            <a:r>
              <a:rPr lang="en-US" b="1" dirty="0"/>
              <a:t>D</a:t>
            </a:r>
          </a:p>
        </p:txBody>
      </p:sp>
    </p:spTree>
    <p:extLst>
      <p:ext uri="{BB962C8B-B14F-4D97-AF65-F5344CB8AC3E}">
        <p14:creationId xmlns:p14="http://schemas.microsoft.com/office/powerpoint/2010/main" val="531278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988D30-BC08-552B-88D7-BED49FB64E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0" cy="4572000"/>
          </a:xfrm>
          <a:prstGeom prst="rect">
            <a:avLst/>
          </a:prstGeom>
        </p:spPr>
      </p:pic>
      <p:pic>
        <p:nvPicPr>
          <p:cNvPr id="9" name="Picture 8">
            <a:extLst>
              <a:ext uri="{FF2B5EF4-FFF2-40B4-BE49-F238E27FC236}">
                <a16:creationId xmlns:a16="http://schemas.microsoft.com/office/drawing/2014/main" id="{C47C2D30-CC01-ACB2-E614-B5D7B551A1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0"/>
            <a:ext cx="4572000" cy="4572000"/>
          </a:xfrm>
          <a:prstGeom prst="rect">
            <a:avLst/>
          </a:prstGeom>
        </p:spPr>
      </p:pic>
      <p:pic>
        <p:nvPicPr>
          <p:cNvPr id="5" name="Picture 4" descr="The image is a boxplot or scatter plot comparing the p-values of gene expression differences between limma-Voom and edgeR, with some genes showing significant differences (p &lt; 0.05) and others not.&#10;&#10;AI-generated content may be incorrect.">
            <a:extLst>
              <a:ext uri="{FF2B5EF4-FFF2-40B4-BE49-F238E27FC236}">
                <a16:creationId xmlns:a16="http://schemas.microsoft.com/office/drawing/2014/main" id="{7982C7EB-E809-7947-74FD-72839D5FDB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4983" y="0"/>
            <a:ext cx="4572000" cy="4572000"/>
          </a:xfrm>
          <a:prstGeom prst="rect">
            <a:avLst/>
          </a:prstGeom>
        </p:spPr>
      </p:pic>
      <p:sp>
        <p:nvSpPr>
          <p:cNvPr id="10" name="Rectangle 9">
            <a:extLst>
              <a:ext uri="{FF2B5EF4-FFF2-40B4-BE49-F238E27FC236}">
                <a16:creationId xmlns:a16="http://schemas.microsoft.com/office/drawing/2014/main" id="{9A5C767D-91CE-79C2-EDAD-BF48627DE12E}"/>
              </a:ext>
            </a:extLst>
          </p:cNvPr>
          <p:cNvSpPr/>
          <p:nvPr/>
        </p:nvSpPr>
        <p:spPr>
          <a:xfrm>
            <a:off x="3440974" y="1869948"/>
            <a:ext cx="369026"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E45955F-BEDF-B030-83F4-65399002BD04}"/>
              </a:ext>
            </a:extLst>
          </p:cNvPr>
          <p:cNvSpPr/>
          <p:nvPr/>
        </p:nvSpPr>
        <p:spPr>
          <a:xfrm>
            <a:off x="7385957" y="1869948"/>
            <a:ext cx="369026" cy="832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888FAB7-9ED2-ED84-0219-A9084E797342}"/>
              </a:ext>
            </a:extLst>
          </p:cNvPr>
          <p:cNvSpPr txBox="1"/>
          <p:nvPr/>
        </p:nvSpPr>
        <p:spPr>
          <a:xfrm>
            <a:off x="-3048" y="-67377"/>
            <a:ext cx="327334" cy="369332"/>
          </a:xfrm>
          <a:prstGeom prst="rect">
            <a:avLst/>
          </a:prstGeom>
          <a:noFill/>
        </p:spPr>
        <p:txBody>
          <a:bodyPr wrap="none" rtlCol="0">
            <a:spAutoFit/>
          </a:bodyPr>
          <a:lstStyle/>
          <a:p>
            <a:r>
              <a:rPr lang="en-US" b="1" dirty="0"/>
              <a:t>A</a:t>
            </a:r>
          </a:p>
        </p:txBody>
      </p:sp>
      <p:sp>
        <p:nvSpPr>
          <p:cNvPr id="13" name="TextBox 12">
            <a:extLst>
              <a:ext uri="{FF2B5EF4-FFF2-40B4-BE49-F238E27FC236}">
                <a16:creationId xmlns:a16="http://schemas.microsoft.com/office/drawing/2014/main" id="{750B575B-ECE7-932C-3E11-411EE45724DF}"/>
              </a:ext>
            </a:extLst>
          </p:cNvPr>
          <p:cNvSpPr txBox="1"/>
          <p:nvPr/>
        </p:nvSpPr>
        <p:spPr>
          <a:xfrm>
            <a:off x="7858489" y="-70098"/>
            <a:ext cx="348172" cy="369332"/>
          </a:xfrm>
          <a:prstGeom prst="rect">
            <a:avLst/>
          </a:prstGeom>
          <a:noFill/>
        </p:spPr>
        <p:txBody>
          <a:bodyPr wrap="none" rtlCol="0">
            <a:spAutoFit/>
          </a:bodyPr>
          <a:lstStyle/>
          <a:p>
            <a:r>
              <a:rPr lang="en-US" b="1" dirty="0"/>
              <a:t>C</a:t>
            </a:r>
          </a:p>
        </p:txBody>
      </p:sp>
      <p:sp>
        <p:nvSpPr>
          <p:cNvPr id="14" name="TextBox 13">
            <a:extLst>
              <a:ext uri="{FF2B5EF4-FFF2-40B4-BE49-F238E27FC236}">
                <a16:creationId xmlns:a16="http://schemas.microsoft.com/office/drawing/2014/main" id="{7678C4DD-C07C-2C82-0CF5-C6E4F1A9E892}"/>
              </a:ext>
            </a:extLst>
          </p:cNvPr>
          <p:cNvSpPr txBox="1"/>
          <p:nvPr/>
        </p:nvSpPr>
        <p:spPr>
          <a:xfrm>
            <a:off x="3784861" y="-70098"/>
            <a:ext cx="327334" cy="369332"/>
          </a:xfrm>
          <a:prstGeom prst="rect">
            <a:avLst/>
          </a:prstGeom>
          <a:noFill/>
        </p:spPr>
        <p:txBody>
          <a:bodyPr wrap="none" rtlCol="0">
            <a:spAutoFit/>
          </a:bodyPr>
          <a:lstStyle/>
          <a:p>
            <a:r>
              <a:rPr lang="en-US" b="1" dirty="0"/>
              <a:t>B</a:t>
            </a:r>
          </a:p>
        </p:txBody>
      </p:sp>
    </p:spTree>
    <p:extLst>
      <p:ext uri="{BB962C8B-B14F-4D97-AF65-F5344CB8AC3E}">
        <p14:creationId xmlns:p14="http://schemas.microsoft.com/office/powerpoint/2010/main" val="3047932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633</TotalTime>
  <Words>103</Words>
  <Application>Microsoft Office PowerPoint</Application>
  <PresentationFormat>Widescreen</PresentationFormat>
  <Paragraphs>13</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Flemister, Abeoseh</dc:creator>
  <cp:lastModifiedBy>Flemister, Abeoseh</cp:lastModifiedBy>
  <cp:revision>3</cp:revision>
  <dcterms:created xsi:type="dcterms:W3CDTF">2026-04-01T03:01:04Z</dcterms:created>
  <dcterms:modified xsi:type="dcterms:W3CDTF">2026-04-01T13:34:24Z</dcterms:modified>
</cp:coreProperties>
</file>